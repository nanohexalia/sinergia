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Comfortaa SemiBol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ComfortaaSemiBold-bold.fntdata"/><Relationship Id="rId10" Type="http://schemas.openxmlformats.org/officeDocument/2006/relationships/font" Target="fonts/ComfortaaSemiBold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291be33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291be33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diseño del modelo se pensó bajo la idea de que la inteligencia de datos debe servir para </a:t>
            </a:r>
            <a:r>
              <a:rPr b="1" lang="es-419">
                <a:solidFill>
                  <a:schemeClr val="dk1"/>
                </a:solidFill>
              </a:rPr>
              <a:t>humanizar y simplificar la gestión de cobranza</a:t>
            </a:r>
            <a:r>
              <a:rPr lang="es-419">
                <a:solidFill>
                  <a:schemeClr val="dk1"/>
                </a:solidFill>
              </a:rPr>
              <a:t>, transformando la presión operativa en decisiones inteligentes que mejoren tanto los resultados financieros como la experiencia de quienes pagan y cobran.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El propósito es </a:t>
            </a:r>
            <a:r>
              <a:rPr b="1" lang="es-419">
                <a:solidFill>
                  <a:schemeClr val="dk1"/>
                </a:solidFill>
              </a:rPr>
              <a:t>convertir la complejidad en simplicidad automatizada</a:t>
            </a:r>
            <a:r>
              <a:rPr lang="es-419">
                <a:solidFill>
                  <a:schemeClr val="dk1"/>
                </a:solidFill>
              </a:rPr>
              <a:t>, usando analítica y modelos auditables que aumenten la recuperación sin comprometer la ética, la privacidad de los usuarios deudores ni el bienestar del talento operativo.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2dc31195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2dc31195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El diseño del modelo se pensó bajo la idea de que la inteligencia de datos debe servir para </a:t>
            </a:r>
            <a:r>
              <a:rPr b="1" lang="es-419">
                <a:solidFill>
                  <a:schemeClr val="dk1"/>
                </a:solidFill>
              </a:rPr>
              <a:t>humanizar y simplificar la gestión de cobranza</a:t>
            </a:r>
            <a:r>
              <a:rPr lang="es-419">
                <a:solidFill>
                  <a:schemeClr val="dk1"/>
                </a:solidFill>
              </a:rPr>
              <a:t>, transformando la presión operativa en decisiones inteligentes que mejoren tanto los resultados financieros como la experiencia de quienes pagan y cobran.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El propósito es </a:t>
            </a:r>
            <a:r>
              <a:rPr b="1" lang="es-419">
                <a:solidFill>
                  <a:schemeClr val="dk1"/>
                </a:solidFill>
              </a:rPr>
              <a:t>convertir la complejidad en simplicidad automatizada</a:t>
            </a:r>
            <a:r>
              <a:rPr lang="es-419">
                <a:solidFill>
                  <a:schemeClr val="dk1"/>
                </a:solidFill>
              </a:rPr>
              <a:t>, usando analítica y modelos auditables que aumenten la recuperación sin comprometer la ética, la privacidad de los usuarios deudores ni el bienestar del talento operativo.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291be33f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291be33f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22924" r="22919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2152125"/>
            <a:ext cx="8520600" cy="167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200">
                <a:solidFill>
                  <a:schemeClr val="lt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SinergIA Cobros</a:t>
            </a:r>
            <a:endParaRPr sz="4200">
              <a:solidFill>
                <a:schemeClr val="lt2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v0.5.0</a:t>
            </a:r>
            <a:endParaRPr sz="2000">
              <a:solidFill>
                <a:schemeClr val="lt2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SisteCr</a:t>
            </a:r>
            <a:r>
              <a:rPr lang="es-419" sz="2000">
                <a:solidFill>
                  <a:schemeClr val="lt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édito</a:t>
            </a:r>
            <a:endParaRPr sz="2000">
              <a:solidFill>
                <a:schemeClr val="lt2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072625" y="4510075"/>
            <a:ext cx="77598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rgbClr val="F3F3F3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InPulse Lab, BI Team</a:t>
            </a:r>
            <a:endParaRPr sz="2300">
              <a:solidFill>
                <a:srgbClr val="F3F3F3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913" y="986175"/>
            <a:ext cx="29241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Logo_Inpulse_alph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150" y="4405208"/>
            <a:ext cx="620749" cy="62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4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pic>
          <p:nvPicPr>
            <p:cNvPr id="64" name="Google Shape;64;p14"/>
            <p:cNvPicPr preferRelativeResize="0"/>
            <p:nvPr/>
          </p:nvPicPr>
          <p:blipFill rotWithShape="1">
            <a:blip r:embed="rId3">
              <a:alphaModFix/>
            </a:blip>
            <a:srcRect b="0" l="0" r="0" t="57969"/>
            <a:stretch/>
          </p:blipFill>
          <p:spPr>
            <a:xfrm>
              <a:off x="0" y="639800"/>
              <a:ext cx="9144000" cy="4503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4"/>
            <p:cNvPicPr preferRelativeResize="0"/>
            <p:nvPr/>
          </p:nvPicPr>
          <p:blipFill rotWithShape="1">
            <a:blip r:embed="rId3">
              <a:alphaModFix/>
            </a:blip>
            <a:srcRect b="57970" l="0" r="0" t="0"/>
            <a:stretch/>
          </p:blipFill>
          <p:spPr>
            <a:xfrm>
              <a:off x="0" y="0"/>
              <a:ext cx="9144000" cy="45036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0555" y="142823"/>
            <a:ext cx="847575" cy="84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8130" y="235168"/>
            <a:ext cx="971625" cy="54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Logo_Inpulse_alph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150" y="4405208"/>
            <a:ext cx="620749" cy="6207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11700" y="274119"/>
            <a:ext cx="972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419" sz="3200">
                <a:solidFill>
                  <a:srgbClr val="EB436C"/>
                </a:solidFill>
                <a:latin typeface="Calibri"/>
                <a:ea typeface="Calibri"/>
                <a:cs typeface="Calibri"/>
                <a:sym typeface="Calibri"/>
              </a:rPr>
              <a:t>SinergIA Cobros | InPulse Lab</a:t>
            </a:r>
            <a:endParaRPr b="1" sz="3200">
              <a:solidFill>
                <a:srgbClr val="EB43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>
            <a:off x="872950" y="1474415"/>
            <a:ext cx="2143200" cy="2617760"/>
            <a:chOff x="355851" y="753577"/>
            <a:chExt cx="2143200" cy="2694000"/>
          </a:xfrm>
        </p:grpSpPr>
        <p:sp>
          <p:nvSpPr>
            <p:cNvPr id="71" name="Google Shape;71;p14"/>
            <p:cNvSpPr/>
            <p:nvPr/>
          </p:nvSpPr>
          <p:spPr>
            <a:xfrm>
              <a:off x="355851" y="753577"/>
              <a:ext cx="2143200" cy="2694000"/>
            </a:xfrm>
            <a:prstGeom prst="frame">
              <a:avLst>
                <a:gd fmla="val 8071" name="adj1"/>
              </a:avLst>
            </a:prstGeom>
            <a:solidFill>
              <a:srgbClr val="FFFFFF"/>
            </a:solidFill>
            <a:ln cap="flat" cmpd="sng" w="14625">
              <a:solidFill>
                <a:srgbClr val="6B7C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8"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469476" y="918136"/>
              <a:ext cx="1906500" cy="23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100" lIns="79100" spcFirstLastPara="1" rIns="79100" wrap="square" tIns="7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Implementar un modelo predictivo que optimice la gestión de cobranza priorizando las cuentas con mayor probabilidad de contacto y de pago.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363"/>
                </a:spcBef>
                <a:spcAft>
                  <a:spcPts val="1363"/>
                </a:spcAft>
                <a:buNone/>
              </a:pP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SinergIA Cobros integra analítica avanzada, segmentación inteligente y automatización segura de flujos para aumentar la recuperación y reducir costos operativos.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14"/>
          <p:cNvSpPr txBox="1"/>
          <p:nvPr/>
        </p:nvSpPr>
        <p:spPr>
          <a:xfrm>
            <a:off x="962636" y="1279186"/>
            <a:ext cx="1040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50" lIns="86450" spcFirstLastPara="1" rIns="86450" wrap="square" tIns="8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3">
                <a:solidFill>
                  <a:srgbClr val="E13288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1" sz="1353">
              <a:solidFill>
                <a:srgbClr val="E132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>
            <a:off x="3549125" y="1477637"/>
            <a:ext cx="2143200" cy="2617760"/>
            <a:chOff x="355851" y="753577"/>
            <a:chExt cx="2143200" cy="2694000"/>
          </a:xfrm>
        </p:grpSpPr>
        <p:sp>
          <p:nvSpPr>
            <p:cNvPr id="75" name="Google Shape;75;p14"/>
            <p:cNvSpPr/>
            <p:nvPr/>
          </p:nvSpPr>
          <p:spPr>
            <a:xfrm>
              <a:off x="355851" y="753577"/>
              <a:ext cx="2143200" cy="2694000"/>
            </a:xfrm>
            <a:prstGeom prst="frame">
              <a:avLst>
                <a:gd fmla="val 8071" name="adj1"/>
              </a:avLst>
            </a:prstGeom>
            <a:solidFill>
              <a:srgbClr val="FFFFFF"/>
            </a:solidFill>
            <a:ln cap="flat" cmpd="sng" w="14625">
              <a:solidFill>
                <a:srgbClr val="6B7C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8"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469476" y="902693"/>
              <a:ext cx="1906500" cy="23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100" lIns="79100" spcFirstLastPara="1" rIns="79100" wrap="square" tIns="79100">
              <a:noAutofit/>
            </a:bodyPr>
            <a:lstStyle/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Limpieza y normalización: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 validación de integridad, control de outliers y estandarización.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Enriquecimiento: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 cruce de variables financieras, demográficas y de contacto.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Modelado predictivo: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 Contactabilidad (Random Forest/XGBoost) y Propensión (LightGBM).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Scoring &amp; priorización: 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generación de score final (α, β) para asignación dinámica.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Evaluación: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 métricas AUC/ROC, F1, Recall y efectividad operativa.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14"/>
          <p:cNvSpPr txBox="1"/>
          <p:nvPr/>
        </p:nvSpPr>
        <p:spPr>
          <a:xfrm>
            <a:off x="3633440" y="1279184"/>
            <a:ext cx="1289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50" lIns="86450" spcFirstLastPara="1" rIns="86450" wrap="square" tIns="8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3">
                <a:solidFill>
                  <a:srgbClr val="E13288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1" sz="1353">
              <a:solidFill>
                <a:srgbClr val="E132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" name="Google Shape;78;p14"/>
          <p:cNvGrpSpPr/>
          <p:nvPr/>
        </p:nvGrpSpPr>
        <p:grpSpPr>
          <a:xfrm>
            <a:off x="6127825" y="1474438"/>
            <a:ext cx="2143200" cy="2617760"/>
            <a:chOff x="355851" y="753577"/>
            <a:chExt cx="2143200" cy="2694000"/>
          </a:xfrm>
        </p:grpSpPr>
        <p:sp>
          <p:nvSpPr>
            <p:cNvPr id="79" name="Google Shape;79;p14"/>
            <p:cNvSpPr/>
            <p:nvPr/>
          </p:nvSpPr>
          <p:spPr>
            <a:xfrm>
              <a:off x="355851" y="753577"/>
              <a:ext cx="2143200" cy="2694000"/>
            </a:xfrm>
            <a:prstGeom prst="frame">
              <a:avLst>
                <a:gd fmla="val 8071" name="adj1"/>
              </a:avLst>
            </a:prstGeom>
            <a:solidFill>
              <a:srgbClr val="FFFFFF"/>
            </a:solidFill>
            <a:ln cap="flat" cmpd="sng" w="14625">
              <a:solidFill>
                <a:srgbClr val="6B7C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18"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469476" y="902693"/>
              <a:ext cx="1906500" cy="23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100" lIns="79100" spcFirstLastPara="1" rIns="79100" wrap="square" tIns="79100">
              <a:noAutofit/>
            </a:bodyPr>
            <a:lstStyle/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+15 – 25 %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 de mejora estimada en tasa de recuperación.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b="1" lang="es-419" sz="913">
                  <a:latin typeface="Calibri"/>
                  <a:ea typeface="Calibri"/>
                  <a:cs typeface="Calibri"/>
                  <a:sym typeface="Calibri"/>
                </a:rPr>
                <a:t>–20 %</a:t>
              </a: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 en intentos fallidos de contacto.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  <a:p>
              <a:pPr indent="-153282" lvl="0" marL="179999" rtl="0" algn="l">
                <a:spcBef>
                  <a:spcPts val="0"/>
                </a:spcBef>
                <a:spcAft>
                  <a:spcPts val="0"/>
                </a:spcAft>
                <a:buSzPts val="914"/>
                <a:buFont typeface="Calibri"/>
                <a:buChar char="●"/>
              </a:pPr>
              <a:r>
                <a:rPr lang="es-419" sz="913">
                  <a:latin typeface="Calibri"/>
                  <a:ea typeface="Calibri"/>
                  <a:cs typeface="Calibri"/>
                  <a:sym typeface="Calibri"/>
                </a:rPr>
                <a:t>Priorización dinámica y automática por rentabilidad esperada.</a:t>
              </a:r>
              <a:endParaRPr sz="913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4"/>
          <p:cNvSpPr txBox="1"/>
          <p:nvPr/>
        </p:nvSpPr>
        <p:spPr>
          <a:xfrm>
            <a:off x="6158286" y="1279184"/>
            <a:ext cx="1340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50" lIns="86450" spcFirstLastPara="1" rIns="86450" wrap="square" tIns="8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3">
                <a:solidFill>
                  <a:srgbClr val="E13288"/>
                </a:solidFill>
                <a:latin typeface="Calibri"/>
                <a:ea typeface="Calibri"/>
                <a:cs typeface="Calibri"/>
                <a:sym typeface="Calibri"/>
              </a:rPr>
              <a:t>Expectativa</a:t>
            </a:r>
            <a:endParaRPr b="1" sz="1353">
              <a:solidFill>
                <a:srgbClr val="E132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354682" y="710064"/>
            <a:ext cx="6701400" cy="3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s-419" sz="1238">
                <a:solidFill>
                  <a:srgbClr val="666666"/>
                </a:solidFill>
              </a:rPr>
              <a:t>Data Science aplicado a cobranzas inteligentes</a:t>
            </a:r>
            <a:endParaRPr b="1" sz="1238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5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pic>
          <p:nvPicPr>
            <p:cNvPr id="88" name="Google Shape;88;p15"/>
            <p:cNvPicPr preferRelativeResize="0"/>
            <p:nvPr/>
          </p:nvPicPr>
          <p:blipFill rotWithShape="1">
            <a:blip r:embed="rId3">
              <a:alphaModFix/>
            </a:blip>
            <a:srcRect b="0" l="0" r="0" t="57969"/>
            <a:stretch/>
          </p:blipFill>
          <p:spPr>
            <a:xfrm>
              <a:off x="0" y="639800"/>
              <a:ext cx="9144000" cy="4503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5"/>
            <p:cNvPicPr preferRelativeResize="0"/>
            <p:nvPr/>
          </p:nvPicPr>
          <p:blipFill rotWithShape="1">
            <a:blip r:embed="rId3">
              <a:alphaModFix/>
            </a:blip>
            <a:srcRect b="57970" l="0" r="0" t="0"/>
            <a:stretch/>
          </p:blipFill>
          <p:spPr>
            <a:xfrm>
              <a:off x="0" y="0"/>
              <a:ext cx="9144000" cy="45036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0555" y="142823"/>
            <a:ext cx="847575" cy="84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8130" y="235168"/>
            <a:ext cx="971625" cy="54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Logo_Inpulse_alph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150" y="4405208"/>
            <a:ext cx="620749" cy="6207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311700" y="274119"/>
            <a:ext cx="972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-419" sz="3200">
                <a:solidFill>
                  <a:srgbClr val="EB436C"/>
                </a:solidFill>
                <a:latin typeface="Calibri"/>
                <a:ea typeface="Calibri"/>
                <a:cs typeface="Calibri"/>
                <a:sym typeface="Calibri"/>
              </a:rPr>
              <a:t>TIMELINE</a:t>
            </a:r>
            <a:endParaRPr b="1" sz="3200">
              <a:solidFill>
                <a:srgbClr val="EB43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354682" y="710064"/>
            <a:ext cx="6701400" cy="3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s-419" sz="1238">
                <a:solidFill>
                  <a:srgbClr val="666666"/>
                </a:solidFill>
              </a:rPr>
              <a:t>Data Science aplicado a cobranzas inteligentes</a:t>
            </a:r>
            <a:endParaRPr b="1" sz="1238">
              <a:solidFill>
                <a:srgbClr val="666666"/>
              </a:solidFill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390" y="1692512"/>
            <a:ext cx="8473209" cy="175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21737" r="21743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11700" y="2388062"/>
            <a:ext cx="85206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27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YOU MATTER TO US</a:t>
            </a:r>
            <a:endParaRPr b="1" sz="27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7913" y="1346425"/>
            <a:ext cx="444817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